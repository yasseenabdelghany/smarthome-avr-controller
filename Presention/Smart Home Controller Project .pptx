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1" d="100"/>
          <a:sy n="131" d="100"/>
        </p:scale>
        <p:origin x="101" y="3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3948707"/>
            <a:ext cx="5276850" cy="24574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771525"/>
            <a:ext cx="5540692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1" i="0" u="none">
                <a:solidFill>
                  <a:srgbClr val="06B6D4"/>
                </a:solidFill>
                <a:latin typeface="Space Grotesk"/>
              </a:rPr>
              <a:t>Smart Home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2470546"/>
            <a:ext cx="5276850" cy="7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0" i="0" u="none">
                <a:solidFill>
                  <a:srgbClr val="F8FAFC"/>
                </a:solidFill>
                <a:latin typeface="Inter Light"/>
              </a:rPr>
              <a:t>ATmega32-Based Embedded Systems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358157"/>
            <a:ext cx="52768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06B6D4"/>
                </a:solidFill>
                <a:latin typeface="Inter"/>
              </a:rPr>
              <a:t>Date: 2026-08-30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4186832"/>
            <a:ext cx="4762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6B6D4"/>
                </a:solidFill>
                <a:latin typeface="Times New Roman SemiBold"/>
              </a:rPr>
              <a:t>Project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857250" y="4482107"/>
            <a:ext cx="476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7250" y="4682132"/>
            <a:ext cx="230981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Times New Roman SemiBold"/>
              </a:rPr>
              <a:t>Soha Hossam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Times New Roman"/>
              </a:rPr>
              <a:t>Operating Modes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2211" y="4682132"/>
            <a:ext cx="2777538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F8FAFC"/>
                </a:solidFill>
                <a:latin typeface="Times New Roman SemiBold"/>
              </a:rPr>
              <a:t>Yass</a:t>
            </a:r>
            <a:r>
              <a:rPr lang="en-US" sz="1350" b="0" i="0" u="none" dirty="0">
                <a:solidFill>
                  <a:srgbClr val="F8FAFC"/>
                </a:solidFill>
                <a:latin typeface="Times New Roman SemiBold"/>
              </a:rPr>
              <a:t>een </a:t>
            </a:r>
            <a:r>
              <a:rPr lang="en-US" sz="1350" dirty="0">
                <a:solidFill>
                  <a:srgbClr val="F8FAFC"/>
                </a:solidFill>
                <a:latin typeface="Times New Roman SemiBold"/>
              </a:rPr>
              <a:t>A</a:t>
            </a:r>
            <a:r>
              <a:rPr lang="en-US" sz="1350" b="0" i="0" u="none" dirty="0">
                <a:solidFill>
                  <a:srgbClr val="F8FAFC"/>
                </a:solidFill>
                <a:latin typeface="Times New Roman SemiBold"/>
              </a:rPr>
              <a:t>hmed </a:t>
            </a:r>
            <a:r>
              <a:rPr lang="en-US" sz="1350" dirty="0">
                <a:solidFill>
                  <a:srgbClr val="F8FAFC"/>
                </a:solidFill>
                <a:latin typeface="Times New Roman SemiBold"/>
              </a:rPr>
              <a:t>E</a:t>
            </a:r>
            <a:r>
              <a:rPr lang="en-US" sz="1350" b="0" i="0" u="none" dirty="0">
                <a:solidFill>
                  <a:srgbClr val="F8FAFC"/>
                </a:solidFill>
                <a:latin typeface="Times New Roman SemiBold"/>
              </a:rPr>
              <a:t>lsayed</a:t>
            </a:r>
            <a:r>
              <a:rPr dirty="0"/>
              <a:t>
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Authentication</a:t>
            </a:r>
            <a:r>
              <a:rPr lang="en-US" sz="1350" b="0" i="0" u="none" dirty="0">
                <a:solidFill>
                  <a:srgbClr val="94A3B8"/>
                </a:solidFill>
                <a:latin typeface="Times New Roman"/>
              </a:rPr>
              <a:t> &amp; Syste</a:t>
            </a:r>
            <a:r>
              <a:rPr lang="en-US" sz="1350" dirty="0">
                <a:solidFill>
                  <a:srgbClr val="94A3B8"/>
                </a:solidFill>
                <a:latin typeface="Times New Roman"/>
              </a:rPr>
              <a:t>m Configuration</a:t>
            </a:r>
            <a:endParaRPr sz="1350" b="0" i="0" u="none" dirty="0">
              <a:solidFill>
                <a:srgbClr val="94A3B8"/>
              </a:solidFill>
              <a:latin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7250" y="5225057"/>
            <a:ext cx="230981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Times New Roman SemiBold"/>
              </a:rPr>
              <a:t>Khaled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Times New Roman"/>
              </a:rPr>
              <a:t>Real-time 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2211" y="5225057"/>
            <a:ext cx="2777538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F8FAFC"/>
                </a:solidFill>
                <a:latin typeface="Times New Roman SemiBold"/>
              </a:rPr>
              <a:t>Roaya</a:t>
            </a:r>
            <a:r>
              <a:rPr dirty="0"/>
              <a:t>
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Alarm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5767982"/>
            <a:ext cx="4762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Times New Roman SemiBold"/>
              </a:rPr>
              <a:t>Aya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Times New Roman"/>
              </a:rPr>
              <a:t>Event 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628775"/>
            <a:ext cx="5229225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6B6D4"/>
                </a:solidFill>
                <a:latin typeface="Space Grotesk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1025" y="1628775"/>
            <a:ext cx="549068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Space Grotesk"/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162175"/>
            <a:ext cx="52292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 complete smart home control system engineered utilizing the robust ATmega32 microcontroller.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057525"/>
            <a:ext cx="549068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Space Grotesk"/>
              </a:rPr>
              <a:t>Key Capabilities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5846526"/>
            <a:ext cx="5229225" cy="6286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20419" y="5851187"/>
            <a:ext cx="49434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F8FAFC"/>
                </a:solidFill>
                <a:latin typeface="Times New Roman SemiBold"/>
              </a:rPr>
              <a:t>Build Status:</a:t>
            </a:r>
            <a:r>
              <a:rPr sz="1200" b="0" i="0" u="none" dirty="0">
                <a:solidFill>
                  <a:srgbClr val="000000"/>
                </a:solidFill>
                <a:latin typeface="Times New Roman"/>
              </a:rPr>
              <a:t> Compiles Successfully</a:t>
            </a:r>
            <a:r>
              <a:rPr dirty="0"/>
              <a:t>
</a:t>
            </a:r>
            <a:r>
              <a:rPr sz="1200" b="0" i="0" u="none" dirty="0">
                <a:solidFill>
                  <a:srgbClr val="000000"/>
                </a:solidFill>
                <a:latin typeface="Times New Roman"/>
              </a:rPr>
              <a:t>Flash: 26% used | SRAM: 24%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543300"/>
            <a:ext cx="49434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Secure password-protected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4019550"/>
            <a:ext cx="49434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Manual and automatic device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4495800"/>
            <a:ext cx="49434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Sensor-driven automation (Temperature &amp; Light)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4972050"/>
            <a:ext cx="49434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Multi-source alarm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5448300"/>
            <a:ext cx="49434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Persistent event logging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" y="5924550"/>
            <a:ext cx="49434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Real-time, non-blocking operation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7825"/>
            <a:ext cx="5191125" cy="3771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356235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403860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451485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025" y="499110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025" y="546735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025" y="594360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6B6D4"/>
                </a:solidFill>
                <a:latin typeface="Space Grotesk"/>
              </a:rPr>
              <a:t>Hardware Architecture: Inputs &amp; Sensors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1025" y="1628775"/>
            <a:ext cx="11029950" cy="4333875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1025" y="1628775"/>
          <a:ext cx="11029948" cy="4333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6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0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773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6B6D4"/>
                          </a:solidFill>
                          <a:latin typeface="Space Grotesk"/>
                        </a:rPr>
                        <a:t>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6B6D4"/>
                          </a:solidFill>
                          <a:latin typeface="Space Grotesk"/>
                        </a:rPr>
                        <a:t>Component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6B6D4"/>
                          </a:solidFill>
                          <a:latin typeface="Space Grotesk"/>
                        </a:rPr>
                        <a:t>Connection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6B6D4"/>
                          </a:solidFill>
                          <a:latin typeface="Space Grotesk"/>
                        </a:rPr>
                        <a:t>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Inter"/>
                        </a:rPr>
                        <a:t>Controller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ATmega32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-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Main system processing unit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Inter"/>
                        </a:rPr>
                        <a:t>Display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LCD 16x2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Port B (Ctrl), Port D (Data)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Primary user interface display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Inter"/>
                        </a:rPr>
                        <a:t>Input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Keypad 4x4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Port 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User input &amp; password entry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Inter"/>
                        </a:rPr>
                        <a:t>Input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Push Button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PD2 (INT0)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Hardware emergency alarm trigger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Inter"/>
                        </a:rPr>
                        <a:t>Sensor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LM35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PA0 (ADC0)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Analog temperature sensing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Inter"/>
                        </a:rPr>
                        <a:t>Sensor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LDR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PA1 (ADC1)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Ambient light level sensing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1025" y="2228850"/>
            <a:ext cx="1696789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77814" y="2228850"/>
            <a:ext cx="192524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03055" y="2228850"/>
            <a:ext cx="3230612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33667" y="2228850"/>
            <a:ext cx="4177307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2862262"/>
            <a:ext cx="169678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77814" y="2862262"/>
            <a:ext cx="192524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03055" y="2862262"/>
            <a:ext cx="32306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33667" y="2862262"/>
            <a:ext cx="417730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3481387"/>
            <a:ext cx="169678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77814" y="3481387"/>
            <a:ext cx="192524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03055" y="3481387"/>
            <a:ext cx="32306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33667" y="3481387"/>
            <a:ext cx="417730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1025" y="4100512"/>
            <a:ext cx="169678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277814" y="4100512"/>
            <a:ext cx="192524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03055" y="4100512"/>
            <a:ext cx="32306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33667" y="4100512"/>
            <a:ext cx="417730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1025" y="4719637"/>
            <a:ext cx="169678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77814" y="4719637"/>
            <a:ext cx="192524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03055" y="4719637"/>
            <a:ext cx="32306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33667" y="4719637"/>
            <a:ext cx="417730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1025" y="5338762"/>
            <a:ext cx="169678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277814" y="5338762"/>
            <a:ext cx="192524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03055" y="5338762"/>
            <a:ext cx="32306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33667" y="5338762"/>
            <a:ext cx="417730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6B6D4"/>
                </a:solidFill>
                <a:latin typeface="Space Grotesk"/>
              </a:rPr>
              <a:t>Hardware Architecture: Actuators &amp; Comms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1025" y="1628775"/>
            <a:ext cx="11029950" cy="4333875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1025" y="1628775"/>
          <a:ext cx="11029948" cy="4333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5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4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6B6D4"/>
                          </a:solidFill>
                          <a:latin typeface="Space Grotesk"/>
                        </a:rPr>
                        <a:t>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6B6D4"/>
                          </a:solidFill>
                          <a:latin typeface="Space Grotesk"/>
                        </a:rPr>
                        <a:t>Component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6B6D4"/>
                          </a:solidFill>
                          <a:latin typeface="Space Grotesk"/>
                        </a:rPr>
                        <a:t>Connection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6B6D4"/>
                          </a:solidFill>
                          <a:latin typeface="Space Grotesk"/>
                        </a:rPr>
                        <a:t>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Inter"/>
                        </a:rPr>
                        <a:t>Output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LED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PA2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Simulated room lighting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Inter"/>
                        </a:rPr>
                        <a:t>Output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Relay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PA3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High-power Fan / AC control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Inter"/>
                        </a:rPr>
                        <a:t>Output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Relay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PA4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Automated Door lock control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Inter"/>
                        </a:rPr>
                        <a:t>Output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Buzzer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PA5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Audible alarm sound generation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Inter"/>
                        </a:rPr>
                        <a:t>Comms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UART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PD0 (RX), PD1 (TX)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PC terminal debugging &amp; log extraction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Inter"/>
                        </a:rPr>
                        <a:t>Memory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Internal EEPROM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-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Non-volatile storage for password, config, logs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1025" y="2228850"/>
            <a:ext cx="1577131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58156" y="2228850"/>
            <a:ext cx="2112912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71069" y="2228850"/>
            <a:ext cx="231517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6239" y="2228850"/>
            <a:ext cx="5024735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2862262"/>
            <a:ext cx="15771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158156" y="2862262"/>
            <a:ext cx="21129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1069" y="2862262"/>
            <a:ext cx="231517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6239" y="2862262"/>
            <a:ext cx="502473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3481387"/>
            <a:ext cx="15771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58156" y="3481387"/>
            <a:ext cx="21129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71069" y="3481387"/>
            <a:ext cx="231517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6239" y="3481387"/>
            <a:ext cx="502473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1025" y="4100512"/>
            <a:ext cx="15771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58156" y="4100512"/>
            <a:ext cx="21129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71069" y="4100512"/>
            <a:ext cx="231517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6239" y="4100512"/>
            <a:ext cx="502473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1025" y="4719637"/>
            <a:ext cx="15771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158156" y="4719637"/>
            <a:ext cx="21129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71069" y="4719637"/>
            <a:ext cx="231517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6239" y="4719637"/>
            <a:ext cx="502473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1025" y="5338762"/>
            <a:ext cx="15771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158156" y="5338762"/>
            <a:ext cx="21129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71069" y="5338762"/>
            <a:ext cx="231517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86239" y="5338762"/>
            <a:ext cx="502473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09" y="1247775"/>
            <a:ext cx="5096504" cy="5486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558" y="1276349"/>
            <a:ext cx="5229225" cy="5457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>
                <a:solidFill>
                  <a:srgbClr val="06B6D4"/>
                </a:solidFill>
                <a:latin typeface="Space Grotesk"/>
              </a:rPr>
              <a:t>Module 1: User Authentication (Yass</a:t>
            </a:r>
            <a:r>
              <a:rPr lang="en-US" sz="3150" b="1" i="0" u="none" dirty="0">
                <a:solidFill>
                  <a:srgbClr val="06B6D4"/>
                </a:solidFill>
                <a:latin typeface="Space Grotesk"/>
              </a:rPr>
              <a:t>een</a:t>
            </a:r>
            <a:r>
              <a:rPr sz="3150" b="1" i="0" u="none" dirty="0">
                <a:solidFill>
                  <a:srgbClr val="06B6D4"/>
                </a:solidFill>
                <a:latin typeface="Space Grotesk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1550" y="2019300"/>
            <a:ext cx="4670583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6B6D4"/>
                </a:solidFill>
                <a:latin typeface="Space Grotesk"/>
              </a:rPr>
              <a:t>Security Protocols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971550" y="2457450"/>
            <a:ext cx="44481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1550" y="2657475"/>
            <a:ext cx="44481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The system implements robust access control to ensure only authorized users can manipulate the environment.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2019300"/>
            <a:ext cx="4670583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6B6D4"/>
                </a:solidFill>
                <a:latin typeface="Space Grotesk"/>
              </a:rPr>
              <a:t>Core API &amp; Event Tracking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72275" y="2457450"/>
            <a:ext cx="44481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72275" y="2657475"/>
            <a:ext cx="44481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Key Firmware Functions: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5276850"/>
            <a:ext cx="44481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F8FAFC"/>
                </a:solidFill>
                <a:latin typeface="Inter SemiBold"/>
              </a:rPr>
              <a:t>Monitored Events: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7300" y="3762375"/>
            <a:ext cx="41624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Secured by a robust 4-digit PIN password.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7300" y="4238625"/>
            <a:ext cx="41624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Credentials stored safely in EEPROM (addresses 0x00-0x03).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7300" y="5019675"/>
            <a:ext cx="41624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Strict tracking of failed authentication attempts.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7300" y="5432290"/>
            <a:ext cx="41624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Automatic system lockout after 3 consecutive failed tries.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7300" y="6105525"/>
            <a:ext cx="41624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Immediate hardware alarm trigger upon system lockout.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8025" y="3105150"/>
            <a:ext cx="41624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AUTH_Init() - Loads/initializes password from EEPROM at boot.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8025" y="3886200"/>
            <a:ext cx="41624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AUTH_VerifyPassword() - Securely validates user input against memory.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8025" y="4667250"/>
            <a:ext cx="41624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AUTH_SetPassword() - Protected API for credential updates via admin menu.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8025" y="5743575"/>
            <a:ext cx="41624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Login Success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8025" y="6096000"/>
            <a:ext cx="41624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Login Failure Warning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8025" y="7086600"/>
            <a:ext cx="4162425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Critical System Lockout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550" y="378142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50" y="425767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550" y="503872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" y="551497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 dirty="0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550" y="660082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 dirty="0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72275" y="312420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2275" y="390525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72275" y="468630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2275" y="615315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72275" y="7105650"/>
            <a:ext cx="104775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628775"/>
            <a:ext cx="3486150" cy="50837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925" y="1628775"/>
            <a:ext cx="3486150" cy="50837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825" y="1628775"/>
            <a:ext cx="3486150" cy="50837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6B6D4"/>
                </a:solidFill>
                <a:latin typeface="Space Grotesk"/>
              </a:rPr>
              <a:t>Module 2: Operating Modes (Soha)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3910" y="2847975"/>
            <a:ext cx="304038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Space Grotesk"/>
              </a:rPr>
              <a:t>Manual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333750"/>
            <a:ext cx="28956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Enables direct, user-driven environmental control via the 4x4 keypad interface.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5810" y="2847975"/>
            <a:ext cx="304038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Space Grotesk"/>
              </a:rPr>
              <a:t>Automatic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3333750"/>
            <a:ext cx="28956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Sensor-driven logic overrides manual input to maintain environmental parameters.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7710" y="2847975"/>
            <a:ext cx="304038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Space Grotesk"/>
              </a:rPr>
              <a:t>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0100" y="3333750"/>
            <a:ext cx="28956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Dynamic adjustment of system parameters without recompiling code.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0262" y="2038350"/>
            <a:ext cx="447675" cy="514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66800" y="4299495"/>
            <a:ext cx="2705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Room Lights (PA2 - LED)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4669035"/>
            <a:ext cx="2705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Fans/AC (PA3 - Relay)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5038576"/>
            <a:ext cx="2705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Door Locks (PA4 - Relay)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5408116"/>
            <a:ext cx="2705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Manual Alarm Toggle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8825" y="2038350"/>
            <a:ext cx="514350" cy="5143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38700" y="4299495"/>
            <a:ext cx="2705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Temp (LM35):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Auto-enables Fan over threshold.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8700" y="4943326"/>
            <a:ext cx="2705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Light (LDR):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Auto-enables Room Lights in darkness.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38700" y="5587156"/>
            <a:ext cx="27051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Safety: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Blocks manual commands to prevent state conflicts.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0725" y="2038350"/>
            <a:ext cx="514350" cy="5143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10600" y="4299495"/>
            <a:ext cx="2705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Temperature limits are user-configurable.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0600" y="4943326"/>
            <a:ext cx="2705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Light sensitivity thresholds adjustable via Admin Menu.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0600" y="5587156"/>
            <a:ext cx="2705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Saved directly to EEPROM.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300" y="4299495"/>
            <a:ext cx="857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B82F6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" y="4669035"/>
            <a:ext cx="857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B82F6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300" y="5038576"/>
            <a:ext cx="857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B82F6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300" y="5408116"/>
            <a:ext cx="857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B82F6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8200" y="4299495"/>
            <a:ext cx="857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B82F6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8200" y="4943326"/>
            <a:ext cx="857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B82F6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8200" y="5587156"/>
            <a:ext cx="857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B82F6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0100" y="4299495"/>
            <a:ext cx="857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B82F6"/>
                </a:solidFill>
                <a:latin typeface="Inte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0100" y="4943326"/>
            <a:ext cx="857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B82F6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0100" y="5587156"/>
            <a:ext cx="857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B82F6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6B6D4"/>
                </a:solidFill>
                <a:latin typeface="Space Grotesk"/>
              </a:rPr>
              <a:t>Module 3: Alarm System (Roaya)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1025" y="1628775"/>
            <a:ext cx="549068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Space Grotesk"/>
              </a:rPr>
              <a:t>Threat Detection &amp;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162175"/>
            <a:ext cx="52292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The alarm system provides immediate auditory feedback during emergency states. Trigger conditions include: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4810125"/>
            <a:ext cx="549068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Space Grotesk"/>
              </a:rPr>
              <a:t>System Behavior &amp; Logging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962275"/>
            <a:ext cx="49434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Fire Detection: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LM35 temperature exceeds 50°C.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438525"/>
            <a:ext cx="49434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Manual Override: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Hardware Push button pressed on PD2 (Triggers INT0 interrupt).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219575"/>
            <a:ext cx="49434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Security Breach: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3 consecutive failed login attempts.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5295900"/>
            <a:ext cx="49434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Activates external buzzer (PA5) if alarm is globally enabled.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6076950"/>
            <a:ext cx="49434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Unconditionally logs the critical event, even if the audible alarm is disabled in settings.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298132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345757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423862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531495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609600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238250"/>
            <a:ext cx="5229225" cy="68675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408" y="1238250"/>
            <a:ext cx="5229225" cy="6867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275" y="3105150"/>
            <a:ext cx="4448175" cy="447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6B6D4"/>
                </a:solidFill>
                <a:latin typeface="Space Grotesk"/>
              </a:rPr>
              <a:t>Module 4: Event Logging (Aya)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1550" y="2019300"/>
            <a:ext cx="4670583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6B6D4"/>
                </a:solidFill>
                <a:latin typeface="Space Grotesk"/>
              </a:rPr>
              <a:t>Persistent Diagnostics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971550" y="2457450"/>
            <a:ext cx="44481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1550" y="2657475"/>
            <a:ext cx="44481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 critical module for debugging and security audits. It securely records all pivotal system state changes directly to the microcontroller's non-volatile memory (EEPROM).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2019300"/>
            <a:ext cx="4670583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6B6D4"/>
                </a:solidFill>
                <a:latin typeface="Space Grotesk"/>
              </a:rPr>
              <a:t>Data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72275" y="2457450"/>
            <a:ext cx="44481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72275" y="2657475"/>
            <a:ext cx="44481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Binary Record Format: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2275" y="3790950"/>
            <a:ext cx="44481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Captured Event Scope: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7300" y="4067175"/>
            <a:ext cx="41624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Utilizes a highly efficient circular buffer architecture.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7300" y="4848225"/>
            <a:ext cx="41624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Allocated 64 bytes at physical addresses 0x50-0x8F.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7300" y="5629275"/>
            <a:ext cx="41624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Automatically overwrites the oldest historical events when the memory buffer is completely full, ensuring continuous logging without memory faults.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7300" y="7019925"/>
            <a:ext cx="4162425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Full log extraction available via UART to a connected PC terminal for advanced analysis.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8025" y="4238625"/>
            <a:ext cx="41624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Cold System Boots / Resets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8025" y="4714875"/>
            <a:ext cx="41624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Authentication Success &amp; Failures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8025" y="5191125"/>
            <a:ext cx="41624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Environmental Configuration Modifications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8025" y="5667375"/>
            <a:ext cx="41624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All hardware and software Alarm Triggers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8025" y="6143625"/>
            <a:ext cx="41624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Transitions between Manual/Auto Operating Modes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50" y="408622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550" y="486727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50" y="564832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550" y="7038975"/>
            <a:ext cx="104775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2275" y="425767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2275" y="473392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72275" y="521017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2275" y="568642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72275" y="616267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628775"/>
            <a:ext cx="5229225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6B6D4"/>
                </a:solidFill>
                <a:latin typeface="Space Grotesk"/>
              </a:rPr>
              <a:t>Module 5: Real-Time Monitor (Khaled)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1025" y="1628775"/>
            <a:ext cx="549068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Space Grotesk"/>
              </a:rPr>
              <a:t>Non-Blocking Kernel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162175"/>
            <a:ext cx="5229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The system avoids standard delay functions, utilizing a custom cooperative multitasking scheduler to ensure continuous operation.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362325"/>
            <a:ext cx="49434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Scheduler Base: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Timer0 hardware peripheral generates precise 1ms system ticks.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4143375"/>
            <a:ext cx="49434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Cooperative Multitasking: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Defined tasks execute periodically without ever blocking the main loop execution.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5229225"/>
            <a:ext cx="49434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Keypad Scanning: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Non-blocking polling mechanism utilizing edge detection software debouncing.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6010275"/>
            <a:ext cx="49434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Sensor Updates: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Asynchronous ADC polling for the LM35 (Temp) and LDR (Light).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7825"/>
            <a:ext cx="5191125" cy="3771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1025" y="338137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416242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524827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602932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6B6D4"/>
                </a:solidFill>
                <a:latin typeface="Space Grotesk"/>
              </a:rPr>
              <a:t>System Architecture &amp; Project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1550" y="2019300"/>
            <a:ext cx="4670583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6B6D4"/>
                </a:solidFill>
                <a:latin typeface="Space Grotesk"/>
              </a:rPr>
              <a:t>Layered Software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971550" y="2457450"/>
            <a:ext cx="44481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1550" y="2657475"/>
            <a:ext cx="44481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The codebase strictly follows an industry-standard layered approach for high portability and decoupled maintenance.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2019300"/>
            <a:ext cx="4670583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6B6D4"/>
                </a:solidFill>
                <a:latin typeface="Space Grotesk"/>
              </a:rPr>
              <a:t>Summary of Achievements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72275" y="2457450"/>
            <a:ext cx="44481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72275" y="2687835"/>
            <a:ext cx="44481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The team successfully delivered a highly capable embedded system meeting all design constraints.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1550" y="3335535"/>
            <a:ext cx="4448175" cy="1329630"/>
          </a:xfrm>
          <a:prstGeom prst="roundRect">
            <a:avLst>
              <a:gd name="adj" fmla="val 429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62050" y="3659385"/>
            <a:ext cx="4067175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APP Layer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(Application Logic)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1550" y="3335535"/>
            <a:ext cx="28575" cy="132963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71550" y="4855666"/>
            <a:ext cx="4448175" cy="1329630"/>
          </a:xfrm>
          <a:prstGeom prst="roundRect">
            <a:avLst>
              <a:gd name="adj" fmla="val 429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62050" y="5179516"/>
            <a:ext cx="4067175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HAL Layer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(Hardware Abstraction)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1550" y="4855666"/>
            <a:ext cx="28575" cy="132963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73253" y="6021268"/>
            <a:ext cx="4067175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F8FAFC"/>
                </a:solidFill>
                <a:latin typeface="Inter SemiBold"/>
              </a:rPr>
              <a:t>MCAL Layer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(Microcontroller Drivers)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8025" y="3810000"/>
            <a:ext cx="41624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Deployed a fully functional smart home control ecosystem.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8025" y="4591050"/>
            <a:ext cx="41624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Engineered a professional, scalable layered software architecture.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6353" y="5229225"/>
            <a:ext cx="4162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Achieved highly efficient resource utilization (Only 24% RAM and 26% Flash used on ATmega32).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" y="335458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550" y="4874716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2275" y="382905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72275" y="461010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2275" y="539115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06B6D4"/>
                </a:solidFill>
                <a:latin typeface="Inter"/>
              </a:rPr>
              <a:t>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71625" y="3878460"/>
            <a:ext cx="36576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Authentication, Operating Modes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71625" y="4200376"/>
            <a:ext cx="36576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Alarm Logic, Event Logging, Scheduler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71625" y="5398591"/>
            <a:ext cx="36576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LCD, Keypad, LED, Relay Modules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71625" y="5720506"/>
            <a:ext cx="36576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Buzzer, LM35 (Temp), LDR (Light)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99162" y="6426789"/>
            <a:ext cx="36576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"/>
              </a:rPr>
              <a:t>DIO, ADC, UART, Timer0, EXTI, EEPROM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81125" y="3897510"/>
            <a:ext cx="3238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└─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81125" y="4219426"/>
            <a:ext cx="3238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└─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81125" y="5417641"/>
            <a:ext cx="3238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└─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81125" y="5739556"/>
            <a:ext cx="3238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└─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4957" y="6416656"/>
            <a:ext cx="32385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 dirty="0">
                <a:solidFill>
                  <a:srgbClr val="475569"/>
                </a:solidFill>
                <a:latin typeface="Inter"/>
              </a:rPr>
              <a:t>└─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974</Words>
  <Application>Microsoft Office PowerPoint</Application>
  <PresentationFormat>Widescreen</PresentationFormat>
  <Paragraphs>213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Inter</vt:lpstr>
      <vt:lpstr>Inter Light</vt:lpstr>
      <vt:lpstr>Inter SemiBold</vt:lpstr>
      <vt:lpstr>Space Grotesk</vt:lpstr>
      <vt:lpstr>Times New Roman</vt:lpstr>
      <vt:lpstr>Times New Roman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Yasseen Ahmed</cp:lastModifiedBy>
  <cp:revision>7</cp:revision>
  <dcterms:created xsi:type="dcterms:W3CDTF">2013-01-27T09:14:16Z</dcterms:created>
  <dcterms:modified xsi:type="dcterms:W3CDTF">2026-08-31T17:37:27Z</dcterms:modified>
  <cp:category/>
</cp:coreProperties>
</file>